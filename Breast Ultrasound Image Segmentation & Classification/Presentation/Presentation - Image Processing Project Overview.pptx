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Canva Sans" panose="020B0604020202020204" charset="0"/>
      <p:regular r:id="rId8"/>
    </p:embeddedFont>
    <p:embeddedFont>
      <p:font typeface="Canva Sans Bold" panose="020B0604020202020204" charset="0"/>
      <p:regular r:id="rId9"/>
    </p:embeddedFont>
    <p:embeddedFont>
      <p:font typeface="Cooper Hewitt" panose="020B0604020202020204" charset="0"/>
      <p:regular r:id="rId10"/>
    </p:embeddedFont>
    <p:embeddedFont>
      <p:font typeface="Cooper Hewitt 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466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90334" y="6359156"/>
            <a:ext cx="18868667" cy="4242251"/>
          </a:xfrm>
          <a:custGeom>
            <a:avLst/>
            <a:gdLst/>
            <a:ahLst/>
            <a:cxnLst/>
            <a:rect l="l" t="t" r="r" b="b"/>
            <a:pathLst>
              <a:path w="18868667" h="4242251">
                <a:moveTo>
                  <a:pt x="0" y="0"/>
                </a:moveTo>
                <a:lnTo>
                  <a:pt x="18868668" y="0"/>
                </a:lnTo>
                <a:lnTo>
                  <a:pt x="18868668" y="4242251"/>
                </a:lnTo>
                <a:lnTo>
                  <a:pt x="0" y="4242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 flipH="1">
            <a:off x="10021589" y="3780507"/>
            <a:ext cx="5203818" cy="6102558"/>
          </a:xfrm>
          <a:custGeom>
            <a:avLst/>
            <a:gdLst/>
            <a:ahLst/>
            <a:cxnLst/>
            <a:rect l="l" t="t" r="r" b="b"/>
            <a:pathLst>
              <a:path w="5203818" h="6102558">
                <a:moveTo>
                  <a:pt x="5203818" y="0"/>
                </a:moveTo>
                <a:lnTo>
                  <a:pt x="0" y="0"/>
                </a:lnTo>
                <a:lnTo>
                  <a:pt x="0" y="6102558"/>
                </a:lnTo>
                <a:lnTo>
                  <a:pt x="5203818" y="6102558"/>
                </a:lnTo>
                <a:lnTo>
                  <a:pt x="520381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 flipH="1">
            <a:off x="13620432" y="4698121"/>
            <a:ext cx="3638868" cy="4267329"/>
          </a:xfrm>
          <a:custGeom>
            <a:avLst/>
            <a:gdLst/>
            <a:ahLst/>
            <a:cxnLst/>
            <a:rect l="l" t="t" r="r" b="b"/>
            <a:pathLst>
              <a:path w="3638868" h="4267329">
                <a:moveTo>
                  <a:pt x="3638868" y="0"/>
                </a:moveTo>
                <a:lnTo>
                  <a:pt x="0" y="0"/>
                </a:lnTo>
                <a:lnTo>
                  <a:pt x="0" y="4267329"/>
                </a:lnTo>
                <a:lnTo>
                  <a:pt x="3638868" y="4267329"/>
                </a:lnTo>
                <a:lnTo>
                  <a:pt x="36388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018745" y="1028700"/>
            <a:ext cx="2240555" cy="2153033"/>
          </a:xfrm>
          <a:custGeom>
            <a:avLst/>
            <a:gdLst/>
            <a:ahLst/>
            <a:cxnLst/>
            <a:rect l="l" t="t" r="r" b="b"/>
            <a:pathLst>
              <a:path w="2240555" h="2153033">
                <a:moveTo>
                  <a:pt x="0" y="0"/>
                </a:moveTo>
                <a:lnTo>
                  <a:pt x="2240555" y="0"/>
                </a:lnTo>
                <a:lnTo>
                  <a:pt x="2240555" y="2153033"/>
                </a:lnTo>
                <a:lnTo>
                  <a:pt x="0" y="21530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28700" y="1192878"/>
            <a:ext cx="9919219" cy="5594775"/>
            <a:chOff x="0" y="-152400"/>
            <a:chExt cx="13225625" cy="7459700"/>
          </a:xfrm>
        </p:grpSpPr>
        <p:sp>
          <p:nvSpPr>
            <p:cNvPr id="7" name="TextBox 7"/>
            <p:cNvSpPr txBox="1"/>
            <p:nvPr/>
          </p:nvSpPr>
          <p:spPr>
            <a:xfrm>
              <a:off x="0" y="-152400"/>
              <a:ext cx="13225625" cy="48244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972"/>
                </a:lnSpc>
              </a:pPr>
              <a:r>
                <a:rPr lang="en-US" sz="8156" b="1">
                  <a:solidFill>
                    <a:srgbClr val="111111"/>
                  </a:solidFill>
                  <a:latin typeface="Cooper Hewitt Bold"/>
                  <a:ea typeface="Cooper Hewitt Bold"/>
                  <a:cs typeface="Cooper Hewitt Bold"/>
                  <a:sym typeface="Cooper Hewitt Bold"/>
                </a:rPr>
                <a:t>Breast Ultrasound Image Segmentation &amp; Classification 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5280249"/>
              <a:ext cx="13225625" cy="20270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74"/>
                </a:lnSpc>
              </a:pPr>
              <a:r>
                <a:rPr lang="en-US" sz="3312" b="1" dirty="0">
                  <a:solidFill>
                    <a:srgbClr val="111111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By Abtahi Bin Jahangir Chowdhury</a:t>
              </a:r>
            </a:p>
            <a:p>
              <a:pPr marL="0" lvl="0" indent="0" algn="l">
                <a:lnSpc>
                  <a:spcPts val="3974"/>
                </a:lnSpc>
              </a:pPr>
              <a:endParaRPr lang="en-US" sz="3312" b="1" dirty="0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marL="0" lvl="0" indent="0" algn="l">
                <a:lnSpc>
                  <a:spcPts val="3974"/>
                </a:lnSpc>
              </a:pPr>
              <a:r>
                <a:rPr lang="en-US" sz="3312" dirty="0">
                  <a:solidFill>
                    <a:srgbClr val="111111"/>
                  </a:solidFill>
                  <a:latin typeface="Canva Sans"/>
                  <a:ea typeface="Canva Sans"/>
                  <a:cs typeface="Canva Sans"/>
                  <a:sym typeface="Canva Sans"/>
                </a:rPr>
                <a:t>(Image Processing)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31" y="2363880"/>
            <a:ext cx="7824935" cy="4401374"/>
          </a:xfrm>
          <a:custGeom>
            <a:avLst/>
            <a:gdLst/>
            <a:ahLst/>
            <a:cxnLst/>
            <a:rect l="l" t="t" r="r" b="b"/>
            <a:pathLst>
              <a:path w="7824935" h="4401374">
                <a:moveTo>
                  <a:pt x="0" y="0"/>
                </a:moveTo>
                <a:lnTo>
                  <a:pt x="7824935" y="0"/>
                </a:lnTo>
                <a:lnTo>
                  <a:pt x="7824935" y="4401374"/>
                </a:lnTo>
                <a:lnTo>
                  <a:pt x="0" y="44013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0" r="-560"/>
            </a:stretch>
          </a:blipFill>
        </p:spPr>
      </p:sp>
      <p:sp>
        <p:nvSpPr>
          <p:cNvPr id="3" name="TextBox 3"/>
          <p:cNvSpPr txBox="1"/>
          <p:nvPr/>
        </p:nvSpPr>
        <p:spPr>
          <a:xfrm rot="-7497">
            <a:off x="1029444" y="876115"/>
            <a:ext cx="8905394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00"/>
              </a:lnSpc>
            </a:pPr>
            <a:r>
              <a:rPr lang="en-US" sz="5000" b="1">
                <a:solidFill>
                  <a:srgbClr val="111111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Multi‑Task U-Net Architecture</a:t>
            </a:r>
          </a:p>
        </p:txBody>
      </p:sp>
      <p:sp>
        <p:nvSpPr>
          <p:cNvPr id="4" name="Freeform 4"/>
          <p:cNvSpPr/>
          <p:nvPr/>
        </p:nvSpPr>
        <p:spPr>
          <a:xfrm>
            <a:off x="-580667" y="8165874"/>
            <a:ext cx="18868667" cy="4242251"/>
          </a:xfrm>
          <a:custGeom>
            <a:avLst/>
            <a:gdLst/>
            <a:ahLst/>
            <a:cxnLst/>
            <a:rect l="l" t="t" r="r" b="b"/>
            <a:pathLst>
              <a:path w="18868667" h="4242251">
                <a:moveTo>
                  <a:pt x="0" y="0"/>
                </a:moveTo>
                <a:lnTo>
                  <a:pt x="18868667" y="0"/>
                </a:lnTo>
                <a:lnTo>
                  <a:pt x="18868667" y="4242252"/>
                </a:lnTo>
                <a:lnTo>
                  <a:pt x="0" y="42422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 flipV="1">
            <a:off x="1028731" y="1720850"/>
            <a:ext cx="8736601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9436299" y="2058035"/>
            <a:ext cx="8169142" cy="6056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111111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Shared Encoder: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111111"/>
                </a:solidFill>
                <a:latin typeface="Cooper Hewitt"/>
                <a:ea typeface="Cooper Hewitt"/>
                <a:cs typeface="Cooper Hewitt"/>
                <a:sym typeface="Cooper Hewitt"/>
              </a:rPr>
              <a:t>4 convolutional blocks (64→128→256→512 filters)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111111"/>
                </a:solidFill>
                <a:latin typeface="Cooper Hewitt"/>
                <a:ea typeface="Cooper Hewitt"/>
                <a:cs typeface="Cooper Hewitt"/>
                <a:sym typeface="Cooper Hewitt"/>
              </a:rPr>
              <a:t>Each block: 2 × 3×3 Conv (ReLU) + Dropout (0.1) + 2×2 Max-Pooling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111111"/>
                </a:solidFill>
                <a:latin typeface="Cooper Hewitt"/>
                <a:ea typeface="Cooper Hewitt"/>
                <a:cs typeface="Cooper Hewitt"/>
                <a:sym typeface="Cooper Hewitt"/>
              </a:rPr>
              <a:t>Extracts hierarchical features, reducing spatial size while increasing depth (bottleneck)</a:t>
            </a: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111111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Segmentation Decoder: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111111"/>
                </a:solidFill>
                <a:latin typeface="Cooper Hewitt"/>
                <a:ea typeface="Cooper Hewitt"/>
                <a:cs typeface="Cooper Hewitt"/>
                <a:sym typeface="Cooper Hewitt"/>
              </a:rPr>
              <a:t>Mirror of encoder with ConvTranspose layers for upsampling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111111"/>
                </a:solidFill>
                <a:latin typeface="Cooper Hewitt"/>
                <a:ea typeface="Cooper Hewitt"/>
                <a:cs typeface="Cooper Hewitt"/>
                <a:sym typeface="Cooper Hewitt"/>
              </a:rPr>
              <a:t>Skip Connections to preserve spatial detail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111111"/>
                </a:solidFill>
                <a:latin typeface="Cooper Hewitt"/>
                <a:ea typeface="Cooper Hewitt"/>
                <a:cs typeface="Cooper Hewitt"/>
                <a:sym typeface="Cooper Hewitt"/>
              </a:rPr>
              <a:t>Final 1×1 Conv (Sigmoid) for binary mask (128×128)</a:t>
            </a: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111111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Classification Head: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111111"/>
                </a:solidFill>
                <a:latin typeface="Cooper Hewitt"/>
                <a:ea typeface="Cooper Hewitt"/>
                <a:cs typeface="Cooper Hewitt"/>
                <a:sym typeface="Cooper Hewitt"/>
              </a:rPr>
              <a:t>Global Average Pooling on bottleneck (512 filters at 8×8)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111111"/>
                </a:solidFill>
                <a:latin typeface="Cooper Hewitt"/>
                <a:ea typeface="Cooper Hewitt"/>
                <a:cs typeface="Cooper Hewitt"/>
                <a:sym typeface="Cooper Hewitt"/>
              </a:rPr>
              <a:t>Dense (128 units, ReLU) + Dropout (0.3)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 b="1">
                <a:solidFill>
                  <a:srgbClr val="111111"/>
                </a:solidFill>
                <a:latin typeface="Cooper Hewitt"/>
                <a:ea typeface="Cooper Hewitt"/>
                <a:cs typeface="Cooper Hewitt"/>
                <a:sym typeface="Cooper Hewitt"/>
              </a:rPr>
              <a:t>Dense (3 units, Softmax) for Normal, Benign, Malignant prediction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31" y="7893050"/>
            <a:ext cx="13139619" cy="136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111111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Why Multi-Task?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111111"/>
                </a:solidFill>
                <a:latin typeface="Cooper Hewitt"/>
                <a:ea typeface="Cooper Hewitt"/>
                <a:cs typeface="Cooper Hewitt"/>
                <a:sym typeface="Cooper Hewitt"/>
              </a:rPr>
              <a:t>Shared encoder reduces parameters, improves feature learning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111111"/>
                </a:solidFill>
                <a:latin typeface="Cooper Hewitt"/>
                <a:ea typeface="Cooper Hewitt"/>
                <a:cs typeface="Cooper Hewitt"/>
                <a:sym typeface="Cooper Hewitt"/>
              </a:rPr>
              <a:t>Joint learning enhances both segmentation and classification by aligning feature importance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2329" y="2259003"/>
            <a:ext cx="5628089" cy="2000295"/>
            <a:chOff x="0" y="0"/>
            <a:chExt cx="1230927" cy="4374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0927" cy="437487"/>
            </a:xfrm>
            <a:custGeom>
              <a:avLst/>
              <a:gdLst/>
              <a:ahLst/>
              <a:cxnLst/>
              <a:rect l="l" t="t" r="r" b="b"/>
              <a:pathLst>
                <a:path w="1230927" h="437487">
                  <a:moveTo>
                    <a:pt x="30263" y="0"/>
                  </a:moveTo>
                  <a:lnTo>
                    <a:pt x="1200665" y="0"/>
                  </a:lnTo>
                  <a:cubicBezTo>
                    <a:pt x="1208691" y="0"/>
                    <a:pt x="1216388" y="3188"/>
                    <a:pt x="1222064" y="8864"/>
                  </a:cubicBezTo>
                  <a:cubicBezTo>
                    <a:pt x="1227739" y="14539"/>
                    <a:pt x="1230927" y="22237"/>
                    <a:pt x="1230927" y="30263"/>
                  </a:cubicBezTo>
                  <a:lnTo>
                    <a:pt x="1230927" y="407225"/>
                  </a:lnTo>
                  <a:cubicBezTo>
                    <a:pt x="1230927" y="423938"/>
                    <a:pt x="1217378" y="437487"/>
                    <a:pt x="1200665" y="437487"/>
                  </a:cubicBezTo>
                  <a:lnTo>
                    <a:pt x="30263" y="437487"/>
                  </a:lnTo>
                  <a:cubicBezTo>
                    <a:pt x="22237" y="437487"/>
                    <a:pt x="14539" y="434299"/>
                    <a:pt x="8864" y="428624"/>
                  </a:cubicBezTo>
                  <a:cubicBezTo>
                    <a:pt x="3188" y="422948"/>
                    <a:pt x="0" y="415251"/>
                    <a:pt x="0" y="407225"/>
                  </a:cubicBezTo>
                  <a:lnTo>
                    <a:pt x="0" y="30263"/>
                  </a:lnTo>
                  <a:cubicBezTo>
                    <a:pt x="0" y="22237"/>
                    <a:pt x="3188" y="14539"/>
                    <a:pt x="8864" y="8864"/>
                  </a:cubicBezTo>
                  <a:cubicBezTo>
                    <a:pt x="14539" y="3188"/>
                    <a:pt x="22237" y="0"/>
                    <a:pt x="30263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1230927" cy="53273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marL="0" lvl="1" indent="0" algn="ctr">
                <a:lnSpc>
                  <a:spcPts val="325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924138" y="5725352"/>
            <a:ext cx="18868667" cy="4242251"/>
          </a:xfrm>
          <a:custGeom>
            <a:avLst/>
            <a:gdLst/>
            <a:ahLst/>
            <a:cxnLst/>
            <a:rect l="l" t="t" r="r" b="b"/>
            <a:pathLst>
              <a:path w="18868667" h="4242251">
                <a:moveTo>
                  <a:pt x="0" y="0"/>
                </a:moveTo>
                <a:lnTo>
                  <a:pt x="18868667" y="0"/>
                </a:lnTo>
                <a:lnTo>
                  <a:pt x="18868667" y="4242251"/>
                </a:lnTo>
                <a:lnTo>
                  <a:pt x="0" y="4242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02329" y="6275919"/>
            <a:ext cx="5628089" cy="2000295"/>
            <a:chOff x="0" y="0"/>
            <a:chExt cx="1230927" cy="43748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30927" cy="437487"/>
            </a:xfrm>
            <a:custGeom>
              <a:avLst/>
              <a:gdLst/>
              <a:ahLst/>
              <a:cxnLst/>
              <a:rect l="l" t="t" r="r" b="b"/>
              <a:pathLst>
                <a:path w="1230927" h="437487">
                  <a:moveTo>
                    <a:pt x="30263" y="0"/>
                  </a:moveTo>
                  <a:lnTo>
                    <a:pt x="1200665" y="0"/>
                  </a:lnTo>
                  <a:cubicBezTo>
                    <a:pt x="1208691" y="0"/>
                    <a:pt x="1216388" y="3188"/>
                    <a:pt x="1222064" y="8864"/>
                  </a:cubicBezTo>
                  <a:cubicBezTo>
                    <a:pt x="1227739" y="14539"/>
                    <a:pt x="1230927" y="22237"/>
                    <a:pt x="1230927" y="30263"/>
                  </a:cubicBezTo>
                  <a:lnTo>
                    <a:pt x="1230927" y="407225"/>
                  </a:lnTo>
                  <a:cubicBezTo>
                    <a:pt x="1230927" y="423938"/>
                    <a:pt x="1217378" y="437487"/>
                    <a:pt x="1200665" y="437487"/>
                  </a:cubicBezTo>
                  <a:lnTo>
                    <a:pt x="30263" y="437487"/>
                  </a:lnTo>
                  <a:cubicBezTo>
                    <a:pt x="22237" y="437487"/>
                    <a:pt x="14539" y="434299"/>
                    <a:pt x="8864" y="428624"/>
                  </a:cubicBezTo>
                  <a:cubicBezTo>
                    <a:pt x="3188" y="422948"/>
                    <a:pt x="0" y="415251"/>
                    <a:pt x="0" y="407225"/>
                  </a:cubicBezTo>
                  <a:lnTo>
                    <a:pt x="0" y="30263"/>
                  </a:lnTo>
                  <a:cubicBezTo>
                    <a:pt x="0" y="22237"/>
                    <a:pt x="3188" y="14539"/>
                    <a:pt x="8864" y="8864"/>
                  </a:cubicBezTo>
                  <a:cubicBezTo>
                    <a:pt x="14539" y="3188"/>
                    <a:pt x="22237" y="0"/>
                    <a:pt x="30263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95250"/>
              <a:ext cx="1230927" cy="53273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marL="0" lvl="1" indent="0" algn="ctr">
                <a:lnSpc>
                  <a:spcPts val="325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02329" y="4267461"/>
            <a:ext cx="5628089" cy="2000295"/>
            <a:chOff x="0" y="0"/>
            <a:chExt cx="1230927" cy="43748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0927" cy="437487"/>
            </a:xfrm>
            <a:custGeom>
              <a:avLst/>
              <a:gdLst/>
              <a:ahLst/>
              <a:cxnLst/>
              <a:rect l="l" t="t" r="r" b="b"/>
              <a:pathLst>
                <a:path w="1230927" h="437487">
                  <a:moveTo>
                    <a:pt x="30263" y="0"/>
                  </a:moveTo>
                  <a:lnTo>
                    <a:pt x="1200665" y="0"/>
                  </a:lnTo>
                  <a:cubicBezTo>
                    <a:pt x="1208691" y="0"/>
                    <a:pt x="1216388" y="3188"/>
                    <a:pt x="1222064" y="8864"/>
                  </a:cubicBezTo>
                  <a:cubicBezTo>
                    <a:pt x="1227739" y="14539"/>
                    <a:pt x="1230927" y="22237"/>
                    <a:pt x="1230927" y="30263"/>
                  </a:cubicBezTo>
                  <a:lnTo>
                    <a:pt x="1230927" y="407225"/>
                  </a:lnTo>
                  <a:cubicBezTo>
                    <a:pt x="1230927" y="423938"/>
                    <a:pt x="1217378" y="437487"/>
                    <a:pt x="1200665" y="437487"/>
                  </a:cubicBezTo>
                  <a:lnTo>
                    <a:pt x="30263" y="437487"/>
                  </a:lnTo>
                  <a:cubicBezTo>
                    <a:pt x="22237" y="437487"/>
                    <a:pt x="14539" y="434299"/>
                    <a:pt x="8864" y="428624"/>
                  </a:cubicBezTo>
                  <a:cubicBezTo>
                    <a:pt x="3188" y="422948"/>
                    <a:pt x="0" y="415251"/>
                    <a:pt x="0" y="407225"/>
                  </a:cubicBezTo>
                  <a:lnTo>
                    <a:pt x="0" y="30263"/>
                  </a:lnTo>
                  <a:cubicBezTo>
                    <a:pt x="0" y="22237"/>
                    <a:pt x="3188" y="14539"/>
                    <a:pt x="8864" y="8864"/>
                  </a:cubicBezTo>
                  <a:cubicBezTo>
                    <a:pt x="14539" y="3188"/>
                    <a:pt x="22237" y="0"/>
                    <a:pt x="30263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1230927" cy="532737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marL="0" lvl="1" indent="0" algn="ctr">
                <a:lnSpc>
                  <a:spcPts val="325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9144000" y="1504771"/>
            <a:ext cx="7638099" cy="3157801"/>
          </a:xfrm>
          <a:custGeom>
            <a:avLst/>
            <a:gdLst/>
            <a:ahLst/>
            <a:cxnLst/>
            <a:rect l="l" t="t" r="r" b="b"/>
            <a:pathLst>
              <a:path w="7638099" h="3157801">
                <a:moveTo>
                  <a:pt x="0" y="0"/>
                </a:moveTo>
                <a:lnTo>
                  <a:pt x="7638099" y="0"/>
                </a:lnTo>
                <a:lnTo>
                  <a:pt x="7638099" y="3157801"/>
                </a:lnTo>
                <a:lnTo>
                  <a:pt x="0" y="31578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9163050" y="3630516"/>
            <a:ext cx="7638099" cy="4645699"/>
          </a:xfrm>
          <a:custGeom>
            <a:avLst/>
            <a:gdLst/>
            <a:ahLst/>
            <a:cxnLst/>
            <a:rect l="l" t="t" r="r" b="b"/>
            <a:pathLst>
              <a:path w="7638099" h="4645699">
                <a:moveTo>
                  <a:pt x="0" y="0"/>
                </a:moveTo>
                <a:lnTo>
                  <a:pt x="7638099" y="0"/>
                </a:lnTo>
                <a:lnTo>
                  <a:pt x="7638099" y="4645699"/>
                </a:lnTo>
                <a:lnTo>
                  <a:pt x="0" y="46456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759" b="-1759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28700" y="493166"/>
            <a:ext cx="12567751" cy="1011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15"/>
              </a:lnSpc>
            </a:pPr>
            <a:r>
              <a:rPr lang="en-US" sz="5923" b="1">
                <a:solidFill>
                  <a:srgbClr val="111111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Quantitative Results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20848" y="2743719"/>
            <a:ext cx="5791051" cy="1146810"/>
            <a:chOff x="0" y="0"/>
            <a:chExt cx="7721402" cy="1529080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123825"/>
              <a:ext cx="7721402" cy="6013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1111"/>
                  </a:solidFill>
                  <a:latin typeface="Cooper Hewitt Bold"/>
                  <a:ea typeface="Cooper Hewitt Bold"/>
                  <a:cs typeface="Cooper Hewitt Bold"/>
                  <a:sym typeface="Cooper Hewitt Bold"/>
                </a:rPr>
                <a:t>Mean IoU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423545"/>
              <a:ext cx="7721402" cy="1105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20"/>
                </a:lnSpc>
              </a:pPr>
              <a:r>
                <a:rPr lang="en-US" sz="2400">
                  <a:solidFill>
                    <a:srgbClr val="111111"/>
                  </a:solidFill>
                  <a:latin typeface="Cooper Hewitt"/>
                  <a:ea typeface="Cooper Hewitt"/>
                  <a:cs typeface="Cooper Hewitt"/>
                  <a:sym typeface="Cooper Hewitt"/>
                </a:rPr>
                <a:t>~0.83 on t</a:t>
              </a:r>
              <a:r>
                <a:rPr lang="en-US" sz="2400" b="1">
                  <a:solidFill>
                    <a:srgbClr val="111111"/>
                  </a:solidFill>
                  <a:latin typeface="Cooper Hewitt"/>
                  <a:ea typeface="Cooper Hewitt"/>
                  <a:cs typeface="Cooper Hewitt"/>
                  <a:sym typeface="Cooper Hewitt"/>
                </a:rPr>
                <a:t>raining vs 0.75 on validation (75% overlap).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20848" y="6699667"/>
            <a:ext cx="5791051" cy="1146810"/>
            <a:chOff x="0" y="0"/>
            <a:chExt cx="7721402" cy="1529080"/>
          </a:xfrm>
        </p:grpSpPr>
        <p:sp>
          <p:nvSpPr>
            <p:cNvPr id="19" name="TextBox 19"/>
            <p:cNvSpPr txBox="1"/>
            <p:nvPr/>
          </p:nvSpPr>
          <p:spPr>
            <a:xfrm>
              <a:off x="0" y="-123825"/>
              <a:ext cx="7721402" cy="6013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1111"/>
                  </a:solidFill>
                  <a:latin typeface="Cooper Hewitt Bold"/>
                  <a:ea typeface="Cooper Hewitt Bold"/>
                  <a:cs typeface="Cooper Hewitt Bold"/>
                  <a:sym typeface="Cooper Hewitt Bold"/>
                </a:rPr>
                <a:t>Dice Coefficient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423545"/>
              <a:ext cx="7721402" cy="11055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20"/>
                </a:lnSpc>
              </a:pPr>
              <a:r>
                <a:rPr lang="en-US" sz="2400">
                  <a:solidFill>
                    <a:srgbClr val="111111"/>
                  </a:solidFill>
                  <a:latin typeface="Cooper Hewitt"/>
                  <a:ea typeface="Cooper Hewitt"/>
                  <a:cs typeface="Cooper Hewitt"/>
                  <a:sym typeface="Cooper Hewitt"/>
                </a:rPr>
                <a:t>~0.85–0.90 (t</a:t>
              </a:r>
              <a:r>
                <a:rPr lang="en-US" sz="2400" b="1">
                  <a:solidFill>
                    <a:srgbClr val="111111"/>
                  </a:solidFill>
                  <a:latin typeface="Cooper Hewitt"/>
                  <a:ea typeface="Cooper Hewitt"/>
                  <a:cs typeface="Cooper Hewitt"/>
                  <a:sym typeface="Cooper Hewitt"/>
                </a:rPr>
                <a:t>rain) vs 0.705 (val). In validation, on average ~70.5% Dice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20848" y="4889466"/>
            <a:ext cx="5791051" cy="756285"/>
            <a:chOff x="0" y="0"/>
            <a:chExt cx="7721402" cy="1008380"/>
          </a:xfrm>
        </p:grpSpPr>
        <p:sp>
          <p:nvSpPr>
            <p:cNvPr id="22" name="TextBox 22"/>
            <p:cNvSpPr txBox="1"/>
            <p:nvPr/>
          </p:nvSpPr>
          <p:spPr>
            <a:xfrm>
              <a:off x="0" y="-123825"/>
              <a:ext cx="7721402" cy="6013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111111"/>
                  </a:solidFill>
                  <a:latin typeface="Cooper Hewitt Bold"/>
                  <a:ea typeface="Cooper Hewitt Bold"/>
                  <a:cs typeface="Cooper Hewitt Bold"/>
                  <a:sym typeface="Cooper Hewitt Bold"/>
                </a:rPr>
                <a:t>Pixel Accuracy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423545"/>
              <a:ext cx="7721402" cy="5848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120"/>
                </a:lnSpc>
              </a:pPr>
              <a:r>
                <a:rPr lang="en-US" sz="2400">
                  <a:solidFill>
                    <a:srgbClr val="111111"/>
                  </a:solidFill>
                  <a:latin typeface="Cooper Hewitt"/>
                  <a:ea typeface="Cooper Hewitt"/>
                  <a:cs typeface="Cooper Hewitt"/>
                  <a:sym typeface="Cooper Hewitt"/>
                </a:rPr>
                <a:t>97.4% (t</a:t>
              </a:r>
              <a:r>
                <a:rPr lang="en-US" sz="2400" b="1">
                  <a:solidFill>
                    <a:srgbClr val="111111"/>
                  </a:solidFill>
                  <a:latin typeface="Cooper Hewitt"/>
                  <a:ea typeface="Cooper Hewitt"/>
                  <a:cs typeface="Cooper Hewitt"/>
                  <a:sym typeface="Cooper Hewitt"/>
                </a:rPr>
                <a:t>rain) vs 95.8% (val)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264540" y="1666510"/>
            <a:ext cx="9758920" cy="2623243"/>
            <a:chOff x="0" y="0"/>
            <a:chExt cx="3111909" cy="83649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11909" cy="836496"/>
            </a:xfrm>
            <a:custGeom>
              <a:avLst/>
              <a:gdLst/>
              <a:ahLst/>
              <a:cxnLst/>
              <a:rect l="l" t="t" r="r" b="b"/>
              <a:pathLst>
                <a:path w="3111909" h="836496">
                  <a:moveTo>
                    <a:pt x="19833" y="0"/>
                  </a:moveTo>
                  <a:lnTo>
                    <a:pt x="3092076" y="0"/>
                  </a:lnTo>
                  <a:cubicBezTo>
                    <a:pt x="3097336" y="0"/>
                    <a:pt x="3102380" y="2090"/>
                    <a:pt x="3106100" y="5809"/>
                  </a:cubicBezTo>
                  <a:cubicBezTo>
                    <a:pt x="3109819" y="9528"/>
                    <a:pt x="3111909" y="14573"/>
                    <a:pt x="3111909" y="19833"/>
                  </a:cubicBezTo>
                  <a:lnTo>
                    <a:pt x="3111909" y="816663"/>
                  </a:lnTo>
                  <a:cubicBezTo>
                    <a:pt x="3111909" y="821923"/>
                    <a:pt x="3109819" y="826967"/>
                    <a:pt x="3106100" y="830687"/>
                  </a:cubicBezTo>
                  <a:cubicBezTo>
                    <a:pt x="3102380" y="834406"/>
                    <a:pt x="3097336" y="836496"/>
                    <a:pt x="3092076" y="836496"/>
                  </a:cubicBezTo>
                  <a:lnTo>
                    <a:pt x="19833" y="836496"/>
                  </a:lnTo>
                  <a:cubicBezTo>
                    <a:pt x="14573" y="836496"/>
                    <a:pt x="9528" y="834406"/>
                    <a:pt x="5809" y="830687"/>
                  </a:cubicBezTo>
                  <a:cubicBezTo>
                    <a:pt x="2090" y="826967"/>
                    <a:pt x="0" y="821923"/>
                    <a:pt x="0" y="816663"/>
                  </a:cubicBezTo>
                  <a:lnTo>
                    <a:pt x="0" y="19833"/>
                  </a:lnTo>
                  <a:cubicBezTo>
                    <a:pt x="0" y="14573"/>
                    <a:pt x="2090" y="9528"/>
                    <a:pt x="5809" y="5809"/>
                  </a:cubicBezTo>
                  <a:cubicBezTo>
                    <a:pt x="9528" y="2090"/>
                    <a:pt x="14573" y="0"/>
                    <a:pt x="198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23825"/>
              <a:ext cx="3111909" cy="9603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493166"/>
            <a:ext cx="12567751" cy="1011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15"/>
              </a:lnSpc>
            </a:pPr>
            <a:r>
              <a:rPr lang="en-US" sz="5923" b="1">
                <a:solidFill>
                  <a:srgbClr val="111111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Qualitative Results (High Quality)</a:t>
            </a:r>
          </a:p>
        </p:txBody>
      </p:sp>
      <p:sp>
        <p:nvSpPr>
          <p:cNvPr id="6" name="Freeform 6"/>
          <p:cNvSpPr/>
          <p:nvPr/>
        </p:nvSpPr>
        <p:spPr>
          <a:xfrm>
            <a:off x="-580667" y="7929456"/>
            <a:ext cx="18868667" cy="4242251"/>
          </a:xfrm>
          <a:custGeom>
            <a:avLst/>
            <a:gdLst/>
            <a:ahLst/>
            <a:cxnLst/>
            <a:rect l="l" t="t" r="r" b="b"/>
            <a:pathLst>
              <a:path w="18868667" h="4242251">
                <a:moveTo>
                  <a:pt x="0" y="0"/>
                </a:moveTo>
                <a:lnTo>
                  <a:pt x="18868667" y="0"/>
                </a:lnTo>
                <a:lnTo>
                  <a:pt x="18868667" y="4242251"/>
                </a:lnTo>
                <a:lnTo>
                  <a:pt x="0" y="4242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1028700" y="1485721"/>
            <a:ext cx="1168456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4500827" y="1785342"/>
            <a:ext cx="9286345" cy="2385580"/>
          </a:xfrm>
          <a:custGeom>
            <a:avLst/>
            <a:gdLst/>
            <a:ahLst/>
            <a:cxnLst/>
            <a:rect l="l" t="t" r="r" b="b"/>
            <a:pathLst>
              <a:path w="9286345" h="2385580">
                <a:moveTo>
                  <a:pt x="0" y="0"/>
                </a:moveTo>
                <a:lnTo>
                  <a:pt x="9286346" y="0"/>
                </a:lnTo>
                <a:lnTo>
                  <a:pt x="9286346" y="2385580"/>
                </a:lnTo>
                <a:lnTo>
                  <a:pt x="0" y="2385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18" r="-618"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4264540" y="4489778"/>
            <a:ext cx="9758920" cy="2623243"/>
            <a:chOff x="0" y="0"/>
            <a:chExt cx="3111909" cy="83649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111909" cy="836496"/>
            </a:xfrm>
            <a:custGeom>
              <a:avLst/>
              <a:gdLst/>
              <a:ahLst/>
              <a:cxnLst/>
              <a:rect l="l" t="t" r="r" b="b"/>
              <a:pathLst>
                <a:path w="3111909" h="836496">
                  <a:moveTo>
                    <a:pt x="19833" y="0"/>
                  </a:moveTo>
                  <a:lnTo>
                    <a:pt x="3092076" y="0"/>
                  </a:lnTo>
                  <a:cubicBezTo>
                    <a:pt x="3097336" y="0"/>
                    <a:pt x="3102380" y="2090"/>
                    <a:pt x="3106100" y="5809"/>
                  </a:cubicBezTo>
                  <a:cubicBezTo>
                    <a:pt x="3109819" y="9528"/>
                    <a:pt x="3111909" y="14573"/>
                    <a:pt x="3111909" y="19833"/>
                  </a:cubicBezTo>
                  <a:lnTo>
                    <a:pt x="3111909" y="816663"/>
                  </a:lnTo>
                  <a:cubicBezTo>
                    <a:pt x="3111909" y="821923"/>
                    <a:pt x="3109819" y="826967"/>
                    <a:pt x="3106100" y="830687"/>
                  </a:cubicBezTo>
                  <a:cubicBezTo>
                    <a:pt x="3102380" y="834406"/>
                    <a:pt x="3097336" y="836496"/>
                    <a:pt x="3092076" y="836496"/>
                  </a:cubicBezTo>
                  <a:lnTo>
                    <a:pt x="19833" y="836496"/>
                  </a:lnTo>
                  <a:cubicBezTo>
                    <a:pt x="14573" y="836496"/>
                    <a:pt x="9528" y="834406"/>
                    <a:pt x="5809" y="830687"/>
                  </a:cubicBezTo>
                  <a:cubicBezTo>
                    <a:pt x="2090" y="826967"/>
                    <a:pt x="0" y="821923"/>
                    <a:pt x="0" y="816663"/>
                  </a:cubicBezTo>
                  <a:lnTo>
                    <a:pt x="0" y="19833"/>
                  </a:lnTo>
                  <a:cubicBezTo>
                    <a:pt x="0" y="14573"/>
                    <a:pt x="2090" y="9528"/>
                    <a:pt x="5809" y="5809"/>
                  </a:cubicBezTo>
                  <a:cubicBezTo>
                    <a:pt x="9528" y="2090"/>
                    <a:pt x="14573" y="0"/>
                    <a:pt x="198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23825"/>
              <a:ext cx="3111909" cy="9603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4434513" y="4585663"/>
            <a:ext cx="9352659" cy="2326474"/>
          </a:xfrm>
          <a:custGeom>
            <a:avLst/>
            <a:gdLst/>
            <a:ahLst/>
            <a:cxnLst/>
            <a:rect l="l" t="t" r="r" b="b"/>
            <a:pathLst>
              <a:path w="9352659" h="2326474">
                <a:moveTo>
                  <a:pt x="0" y="0"/>
                </a:moveTo>
                <a:lnTo>
                  <a:pt x="9352660" y="0"/>
                </a:lnTo>
                <a:lnTo>
                  <a:pt x="9352660" y="2326474"/>
                </a:lnTo>
                <a:lnTo>
                  <a:pt x="0" y="23264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4264540" y="7313046"/>
            <a:ext cx="9758920" cy="2623243"/>
            <a:chOff x="0" y="0"/>
            <a:chExt cx="3111909" cy="83649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111909" cy="836496"/>
            </a:xfrm>
            <a:custGeom>
              <a:avLst/>
              <a:gdLst/>
              <a:ahLst/>
              <a:cxnLst/>
              <a:rect l="l" t="t" r="r" b="b"/>
              <a:pathLst>
                <a:path w="3111909" h="836496">
                  <a:moveTo>
                    <a:pt x="19833" y="0"/>
                  </a:moveTo>
                  <a:lnTo>
                    <a:pt x="3092076" y="0"/>
                  </a:lnTo>
                  <a:cubicBezTo>
                    <a:pt x="3097336" y="0"/>
                    <a:pt x="3102380" y="2090"/>
                    <a:pt x="3106100" y="5809"/>
                  </a:cubicBezTo>
                  <a:cubicBezTo>
                    <a:pt x="3109819" y="9528"/>
                    <a:pt x="3111909" y="14573"/>
                    <a:pt x="3111909" y="19833"/>
                  </a:cubicBezTo>
                  <a:lnTo>
                    <a:pt x="3111909" y="816663"/>
                  </a:lnTo>
                  <a:cubicBezTo>
                    <a:pt x="3111909" y="821923"/>
                    <a:pt x="3109819" y="826967"/>
                    <a:pt x="3106100" y="830687"/>
                  </a:cubicBezTo>
                  <a:cubicBezTo>
                    <a:pt x="3102380" y="834406"/>
                    <a:pt x="3097336" y="836496"/>
                    <a:pt x="3092076" y="836496"/>
                  </a:cubicBezTo>
                  <a:lnTo>
                    <a:pt x="19833" y="836496"/>
                  </a:lnTo>
                  <a:cubicBezTo>
                    <a:pt x="14573" y="836496"/>
                    <a:pt x="9528" y="834406"/>
                    <a:pt x="5809" y="830687"/>
                  </a:cubicBezTo>
                  <a:cubicBezTo>
                    <a:pt x="2090" y="826967"/>
                    <a:pt x="0" y="821923"/>
                    <a:pt x="0" y="816663"/>
                  </a:cubicBezTo>
                  <a:lnTo>
                    <a:pt x="0" y="19833"/>
                  </a:lnTo>
                  <a:cubicBezTo>
                    <a:pt x="0" y="14573"/>
                    <a:pt x="2090" y="9528"/>
                    <a:pt x="5809" y="5809"/>
                  </a:cubicBezTo>
                  <a:cubicBezTo>
                    <a:pt x="9528" y="2090"/>
                    <a:pt x="14573" y="0"/>
                    <a:pt x="198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23825"/>
              <a:ext cx="3111909" cy="9603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4420254" y="7532121"/>
            <a:ext cx="9366919" cy="2216015"/>
          </a:xfrm>
          <a:custGeom>
            <a:avLst/>
            <a:gdLst/>
            <a:ahLst/>
            <a:cxnLst/>
            <a:rect l="l" t="t" r="r" b="b"/>
            <a:pathLst>
              <a:path w="9366919" h="2216015">
                <a:moveTo>
                  <a:pt x="0" y="0"/>
                </a:moveTo>
                <a:lnTo>
                  <a:pt x="9366919" y="0"/>
                </a:lnTo>
                <a:lnTo>
                  <a:pt x="9366919" y="2216015"/>
                </a:lnTo>
                <a:lnTo>
                  <a:pt x="0" y="22160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572" b="-2572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93166"/>
            <a:ext cx="12567751" cy="1011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15"/>
              </a:lnSpc>
            </a:pPr>
            <a:r>
              <a:rPr lang="en-US" sz="5923" b="1">
                <a:solidFill>
                  <a:srgbClr val="111111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Qualitative Results(Challenging)</a:t>
            </a:r>
          </a:p>
        </p:txBody>
      </p:sp>
      <p:sp>
        <p:nvSpPr>
          <p:cNvPr id="3" name="AutoShape 3"/>
          <p:cNvSpPr/>
          <p:nvPr/>
        </p:nvSpPr>
        <p:spPr>
          <a:xfrm>
            <a:off x="1028700" y="1485721"/>
            <a:ext cx="1131893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4264540" y="1666510"/>
            <a:ext cx="9758920" cy="2623243"/>
            <a:chOff x="0" y="0"/>
            <a:chExt cx="3111909" cy="83649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111909" cy="836496"/>
            </a:xfrm>
            <a:custGeom>
              <a:avLst/>
              <a:gdLst/>
              <a:ahLst/>
              <a:cxnLst/>
              <a:rect l="l" t="t" r="r" b="b"/>
              <a:pathLst>
                <a:path w="3111909" h="836496">
                  <a:moveTo>
                    <a:pt x="19833" y="0"/>
                  </a:moveTo>
                  <a:lnTo>
                    <a:pt x="3092076" y="0"/>
                  </a:lnTo>
                  <a:cubicBezTo>
                    <a:pt x="3097336" y="0"/>
                    <a:pt x="3102380" y="2090"/>
                    <a:pt x="3106100" y="5809"/>
                  </a:cubicBezTo>
                  <a:cubicBezTo>
                    <a:pt x="3109819" y="9528"/>
                    <a:pt x="3111909" y="14573"/>
                    <a:pt x="3111909" y="19833"/>
                  </a:cubicBezTo>
                  <a:lnTo>
                    <a:pt x="3111909" y="816663"/>
                  </a:lnTo>
                  <a:cubicBezTo>
                    <a:pt x="3111909" y="821923"/>
                    <a:pt x="3109819" y="826967"/>
                    <a:pt x="3106100" y="830687"/>
                  </a:cubicBezTo>
                  <a:cubicBezTo>
                    <a:pt x="3102380" y="834406"/>
                    <a:pt x="3097336" y="836496"/>
                    <a:pt x="3092076" y="836496"/>
                  </a:cubicBezTo>
                  <a:lnTo>
                    <a:pt x="19833" y="836496"/>
                  </a:lnTo>
                  <a:cubicBezTo>
                    <a:pt x="14573" y="836496"/>
                    <a:pt x="9528" y="834406"/>
                    <a:pt x="5809" y="830687"/>
                  </a:cubicBezTo>
                  <a:cubicBezTo>
                    <a:pt x="2090" y="826967"/>
                    <a:pt x="0" y="821923"/>
                    <a:pt x="0" y="816663"/>
                  </a:cubicBezTo>
                  <a:lnTo>
                    <a:pt x="0" y="19833"/>
                  </a:lnTo>
                  <a:cubicBezTo>
                    <a:pt x="0" y="14573"/>
                    <a:pt x="2090" y="9528"/>
                    <a:pt x="5809" y="5809"/>
                  </a:cubicBezTo>
                  <a:cubicBezTo>
                    <a:pt x="9528" y="2090"/>
                    <a:pt x="14573" y="0"/>
                    <a:pt x="198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23825"/>
              <a:ext cx="3111909" cy="9603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-580667" y="7929456"/>
            <a:ext cx="18868667" cy="4242251"/>
          </a:xfrm>
          <a:custGeom>
            <a:avLst/>
            <a:gdLst/>
            <a:ahLst/>
            <a:cxnLst/>
            <a:rect l="l" t="t" r="r" b="b"/>
            <a:pathLst>
              <a:path w="18868667" h="4242251">
                <a:moveTo>
                  <a:pt x="0" y="0"/>
                </a:moveTo>
                <a:lnTo>
                  <a:pt x="18868667" y="0"/>
                </a:lnTo>
                <a:lnTo>
                  <a:pt x="18868667" y="4242251"/>
                </a:lnTo>
                <a:lnTo>
                  <a:pt x="0" y="4242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4264540" y="4489778"/>
            <a:ext cx="9758920" cy="2623243"/>
            <a:chOff x="0" y="0"/>
            <a:chExt cx="3111909" cy="83649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111909" cy="836496"/>
            </a:xfrm>
            <a:custGeom>
              <a:avLst/>
              <a:gdLst/>
              <a:ahLst/>
              <a:cxnLst/>
              <a:rect l="l" t="t" r="r" b="b"/>
              <a:pathLst>
                <a:path w="3111909" h="836496">
                  <a:moveTo>
                    <a:pt x="19833" y="0"/>
                  </a:moveTo>
                  <a:lnTo>
                    <a:pt x="3092076" y="0"/>
                  </a:lnTo>
                  <a:cubicBezTo>
                    <a:pt x="3097336" y="0"/>
                    <a:pt x="3102380" y="2090"/>
                    <a:pt x="3106100" y="5809"/>
                  </a:cubicBezTo>
                  <a:cubicBezTo>
                    <a:pt x="3109819" y="9528"/>
                    <a:pt x="3111909" y="14573"/>
                    <a:pt x="3111909" y="19833"/>
                  </a:cubicBezTo>
                  <a:lnTo>
                    <a:pt x="3111909" y="816663"/>
                  </a:lnTo>
                  <a:cubicBezTo>
                    <a:pt x="3111909" y="821923"/>
                    <a:pt x="3109819" y="826967"/>
                    <a:pt x="3106100" y="830687"/>
                  </a:cubicBezTo>
                  <a:cubicBezTo>
                    <a:pt x="3102380" y="834406"/>
                    <a:pt x="3097336" y="836496"/>
                    <a:pt x="3092076" y="836496"/>
                  </a:cubicBezTo>
                  <a:lnTo>
                    <a:pt x="19833" y="836496"/>
                  </a:lnTo>
                  <a:cubicBezTo>
                    <a:pt x="14573" y="836496"/>
                    <a:pt x="9528" y="834406"/>
                    <a:pt x="5809" y="830687"/>
                  </a:cubicBezTo>
                  <a:cubicBezTo>
                    <a:pt x="2090" y="826967"/>
                    <a:pt x="0" y="821923"/>
                    <a:pt x="0" y="816663"/>
                  </a:cubicBezTo>
                  <a:lnTo>
                    <a:pt x="0" y="19833"/>
                  </a:lnTo>
                  <a:cubicBezTo>
                    <a:pt x="0" y="14573"/>
                    <a:pt x="2090" y="9528"/>
                    <a:pt x="5809" y="5809"/>
                  </a:cubicBezTo>
                  <a:cubicBezTo>
                    <a:pt x="9528" y="2090"/>
                    <a:pt x="14573" y="0"/>
                    <a:pt x="198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23825"/>
              <a:ext cx="3111909" cy="9603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264540" y="7313046"/>
            <a:ext cx="9758920" cy="2623243"/>
            <a:chOff x="0" y="0"/>
            <a:chExt cx="3111909" cy="8364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111909" cy="836496"/>
            </a:xfrm>
            <a:custGeom>
              <a:avLst/>
              <a:gdLst/>
              <a:ahLst/>
              <a:cxnLst/>
              <a:rect l="l" t="t" r="r" b="b"/>
              <a:pathLst>
                <a:path w="3111909" h="836496">
                  <a:moveTo>
                    <a:pt x="19833" y="0"/>
                  </a:moveTo>
                  <a:lnTo>
                    <a:pt x="3092076" y="0"/>
                  </a:lnTo>
                  <a:cubicBezTo>
                    <a:pt x="3097336" y="0"/>
                    <a:pt x="3102380" y="2090"/>
                    <a:pt x="3106100" y="5809"/>
                  </a:cubicBezTo>
                  <a:cubicBezTo>
                    <a:pt x="3109819" y="9528"/>
                    <a:pt x="3111909" y="14573"/>
                    <a:pt x="3111909" y="19833"/>
                  </a:cubicBezTo>
                  <a:lnTo>
                    <a:pt x="3111909" y="816663"/>
                  </a:lnTo>
                  <a:cubicBezTo>
                    <a:pt x="3111909" y="821923"/>
                    <a:pt x="3109819" y="826967"/>
                    <a:pt x="3106100" y="830687"/>
                  </a:cubicBezTo>
                  <a:cubicBezTo>
                    <a:pt x="3102380" y="834406"/>
                    <a:pt x="3097336" y="836496"/>
                    <a:pt x="3092076" y="836496"/>
                  </a:cubicBezTo>
                  <a:lnTo>
                    <a:pt x="19833" y="836496"/>
                  </a:lnTo>
                  <a:cubicBezTo>
                    <a:pt x="14573" y="836496"/>
                    <a:pt x="9528" y="834406"/>
                    <a:pt x="5809" y="830687"/>
                  </a:cubicBezTo>
                  <a:cubicBezTo>
                    <a:pt x="2090" y="826967"/>
                    <a:pt x="0" y="821923"/>
                    <a:pt x="0" y="816663"/>
                  </a:cubicBezTo>
                  <a:lnTo>
                    <a:pt x="0" y="19833"/>
                  </a:lnTo>
                  <a:cubicBezTo>
                    <a:pt x="0" y="14573"/>
                    <a:pt x="2090" y="9528"/>
                    <a:pt x="5809" y="5809"/>
                  </a:cubicBezTo>
                  <a:cubicBezTo>
                    <a:pt x="9528" y="2090"/>
                    <a:pt x="14573" y="0"/>
                    <a:pt x="198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123825"/>
              <a:ext cx="3111909" cy="9603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4562270" y="7398771"/>
            <a:ext cx="9108209" cy="2311208"/>
          </a:xfrm>
          <a:custGeom>
            <a:avLst/>
            <a:gdLst/>
            <a:ahLst/>
            <a:cxnLst/>
            <a:rect l="l" t="t" r="r" b="b"/>
            <a:pathLst>
              <a:path w="9108209" h="2311208">
                <a:moveTo>
                  <a:pt x="0" y="0"/>
                </a:moveTo>
                <a:lnTo>
                  <a:pt x="9108209" y="0"/>
                </a:lnTo>
                <a:lnTo>
                  <a:pt x="9108209" y="2311208"/>
                </a:lnTo>
                <a:lnTo>
                  <a:pt x="0" y="23112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4639083" y="4577379"/>
            <a:ext cx="8954582" cy="2448042"/>
          </a:xfrm>
          <a:custGeom>
            <a:avLst/>
            <a:gdLst/>
            <a:ahLst/>
            <a:cxnLst/>
            <a:rect l="l" t="t" r="r" b="b"/>
            <a:pathLst>
              <a:path w="8954582" h="2448042">
                <a:moveTo>
                  <a:pt x="0" y="0"/>
                </a:moveTo>
                <a:lnTo>
                  <a:pt x="8954582" y="0"/>
                </a:lnTo>
                <a:lnTo>
                  <a:pt x="8954582" y="2448042"/>
                </a:lnTo>
                <a:lnTo>
                  <a:pt x="0" y="24480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229" r="-5229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4554491" y="1849897"/>
            <a:ext cx="9179018" cy="2294754"/>
          </a:xfrm>
          <a:custGeom>
            <a:avLst/>
            <a:gdLst/>
            <a:ahLst/>
            <a:cxnLst/>
            <a:rect l="l" t="t" r="r" b="b"/>
            <a:pathLst>
              <a:path w="9179018" h="2294754">
                <a:moveTo>
                  <a:pt x="0" y="0"/>
                </a:moveTo>
                <a:lnTo>
                  <a:pt x="9179018" y="0"/>
                </a:lnTo>
                <a:lnTo>
                  <a:pt x="9179018" y="2294755"/>
                </a:lnTo>
                <a:lnTo>
                  <a:pt x="0" y="22947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08395" y="-150382"/>
            <a:ext cx="2945323" cy="10587763"/>
          </a:xfrm>
          <a:custGeom>
            <a:avLst/>
            <a:gdLst/>
            <a:ahLst/>
            <a:cxnLst/>
            <a:rect l="l" t="t" r="r" b="b"/>
            <a:pathLst>
              <a:path w="2945323" h="10587763">
                <a:moveTo>
                  <a:pt x="0" y="0"/>
                </a:moveTo>
                <a:lnTo>
                  <a:pt x="2945323" y="0"/>
                </a:lnTo>
                <a:lnTo>
                  <a:pt x="2945323" y="10587764"/>
                </a:lnTo>
                <a:lnTo>
                  <a:pt x="0" y="105877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335666" y="4274503"/>
            <a:ext cx="11616669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11111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</Words>
  <Application>Microsoft Office PowerPoint</Application>
  <PresentationFormat>Custom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Canva Sans Bold</vt:lpstr>
      <vt:lpstr>Calibri</vt:lpstr>
      <vt:lpstr>Canva Sans</vt:lpstr>
      <vt:lpstr>Cooper Hewitt</vt:lpstr>
      <vt:lpstr>Arial</vt:lpstr>
      <vt:lpstr>Cooper Hewitt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Image Processing Project Overview</dc:title>
  <dc:description>Presentation - Image Processing Project Overview</dc:description>
  <cp:lastModifiedBy>Abtahi Bin Jahangir Chowdhury Abtu</cp:lastModifiedBy>
  <cp:revision>2</cp:revision>
  <dcterms:created xsi:type="dcterms:W3CDTF">2006-08-16T00:00:00Z</dcterms:created>
  <dcterms:modified xsi:type="dcterms:W3CDTF">2025-12-04T15:22:37Z</dcterms:modified>
  <dc:identifier>DAGnR11HrPk</dc:identifier>
</cp:coreProperties>
</file>